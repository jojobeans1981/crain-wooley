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Subscription MRR</c:v>
                </c:pt>
              </c:strCache>
            </c:strRef>
          </c:tx>
          <c:spPr>
            <a:solidFill>
              <a:srgbClr val="8A642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Y1 (10 firms)</c:v>
                  </c:pt>
                  <c:pt idx="1">
                    <c:v>Y1 end (30 firms)</c:v>
                  </c:pt>
                  <c:pt idx="2">
                    <c:v>Y2 (100 firms)</c:v>
                  </c:pt>
                  <c:pt idx="3">
                    <c:v>Y3 (300 firms)</c:v>
                  </c:pt>
                  <c:pt idx="4">
                    <c:v>Y3 ceiling (1000)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15</c:v>
                </c:pt>
                <c:pt idx="2">
                  <c:v>50</c:v>
                </c:pt>
                <c:pt idx="3">
                  <c:v>150</c:v>
                </c:pt>
                <c:pt idx="4">
                  <c:v>500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Payments rev share MRR</c:v>
                </c:pt>
              </c:strCache>
            </c:strRef>
          </c:tx>
          <c:spPr>
            <a:solidFill>
              <a:srgbClr val="C593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Y1 (10 firms)</c:v>
                  </c:pt>
                  <c:pt idx="1">
                    <c:v>Y1 end (30 firms)</c:v>
                  </c:pt>
                  <c:pt idx="2">
                    <c:v>Y2 (100 firms)</c:v>
                  </c:pt>
                  <c:pt idx="3">
                    <c:v>Y3 (300 firms)</c:v>
                  </c:pt>
                  <c:pt idx="4">
                    <c:v>Y3 ceiling (1000)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15</c:v>
                </c:pt>
                <c:pt idx="1">
                  <c:v>45</c:v>
                </c:pt>
                <c:pt idx="2">
                  <c:v>150</c:v>
                </c:pt>
                <c:pt idx="3">
                  <c:v>450</c:v>
                </c:pt>
                <c:pt idx="4">
                  <c:v>1500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B8E"/>
                </a:solidFill>
                <a:latin typeface="Consola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D3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B7B8E"/>
                    </a:solidFill>
                    <a:latin typeface="Consolas"/>
                  </a:defRPr>
                </a:pPr>
                <a:r>
                  <a:rPr sz="900" b="0" i="0" u="none" strike="noStrike">
                    <a:solidFill>
                      <a:srgbClr val="6B7B8E"/>
                    </a:solidFill>
                    <a:latin typeface="Consolas"/>
                  </a:rPr>
                  <a:t>$K MRR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B8E"/>
                </a:solidFill>
                <a:latin typeface="Consola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0D11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E8E2D6"/>
              </a:solidFill>
              <a:latin typeface="Consolas"/>
              <a:cs typeface="Consolas"/>
            </a:defRPr>
          </a:pPr>
          <a:endParaRPr lang="en-US"/>
        </a:p>
      </c:txPr>
    </c:legend>
    <c:plotVisOnly val="1"/>
    <c:dispBlanksAs val="span"/>
  </c:chart>
  <c:spPr>
    <a:solidFill>
      <a:srgbClr val="0B0D11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3175">
            <a:solidFill>
              <a:srgbClr val="1113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3175">
            <a:solidFill>
              <a:srgbClr val="11131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3175">
            <a:solidFill>
              <a:srgbClr val="1113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3175">
            <a:solidFill>
              <a:srgbClr val="1113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3175">
            <a:solidFill>
              <a:srgbClr val="11131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3175">
            <a:solidFill>
              <a:srgbClr val="11131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3175">
            <a:solidFill>
              <a:srgbClr val="11131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3175">
            <a:solidFill>
              <a:srgbClr val="11131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3175">
            <a:solidFill>
              <a:srgbClr val="1113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3175">
            <a:solidFill>
              <a:srgbClr val="11131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3175">
            <a:solidFill>
              <a:srgbClr val="11131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3175">
            <a:solidFill>
              <a:srgbClr val="11131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3175">
            <a:solidFill>
              <a:srgbClr val="11131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3175">
            <a:solidFill>
              <a:srgbClr val="11131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3175">
            <a:solidFill>
              <a:srgbClr val="11131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3175">
            <a:solidFill>
              <a:srgbClr val="11131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3175">
            <a:solidFill>
              <a:srgbClr val="11131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3175">
            <a:solidFill>
              <a:srgbClr val="11131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3175">
            <a:solidFill>
              <a:srgbClr val="11131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3175">
            <a:solidFill>
              <a:srgbClr val="11131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3175">
            <a:solidFill>
              <a:srgbClr val="11131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3175">
            <a:solidFill>
              <a:srgbClr val="11131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3175">
            <a:solidFill>
              <a:srgbClr val="11131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3175">
            <a:solidFill>
              <a:srgbClr val="11131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3175">
            <a:solidFill>
              <a:srgbClr val="11131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3175">
            <a:solidFill>
              <a:srgbClr val="11131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3175">
            <a:solidFill>
              <a:srgbClr val="11131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0"/>
            <a:ext cx="12161520" cy="0"/>
          </a:xfrm>
          <a:prstGeom prst="line">
            <a:avLst/>
          </a:prstGeom>
          <a:noFill/>
          <a:ln w="3175">
            <a:solidFill>
              <a:srgbClr val="11131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57200"/>
            <a:ext cx="12161520" cy="0"/>
          </a:xfrm>
          <a:prstGeom prst="line">
            <a:avLst/>
          </a:prstGeom>
          <a:noFill/>
          <a:ln w="3175">
            <a:solidFill>
              <a:srgbClr val="11131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914400"/>
            <a:ext cx="12161520" cy="0"/>
          </a:xfrm>
          <a:prstGeom prst="line">
            <a:avLst/>
          </a:prstGeom>
          <a:noFill/>
          <a:ln w="3175">
            <a:solidFill>
              <a:srgbClr val="11131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1371600"/>
            <a:ext cx="12161520" cy="0"/>
          </a:xfrm>
          <a:prstGeom prst="line">
            <a:avLst/>
          </a:prstGeom>
          <a:noFill/>
          <a:ln w="3175">
            <a:solidFill>
              <a:srgbClr val="11131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1828800"/>
            <a:ext cx="12161520" cy="0"/>
          </a:xfrm>
          <a:prstGeom prst="line">
            <a:avLst/>
          </a:prstGeom>
          <a:noFill/>
          <a:ln w="3175">
            <a:solidFill>
              <a:srgbClr val="11131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2286000"/>
            <a:ext cx="12161520" cy="0"/>
          </a:xfrm>
          <a:prstGeom prst="line">
            <a:avLst/>
          </a:prstGeom>
          <a:noFill/>
          <a:ln w="3175">
            <a:solidFill>
              <a:srgbClr val="11131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2743200"/>
            <a:ext cx="12161520" cy="0"/>
          </a:xfrm>
          <a:prstGeom prst="line">
            <a:avLst/>
          </a:prstGeom>
          <a:noFill/>
          <a:ln w="3175">
            <a:solidFill>
              <a:srgbClr val="11131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3200400"/>
            <a:ext cx="12161520" cy="0"/>
          </a:xfrm>
          <a:prstGeom prst="line">
            <a:avLst/>
          </a:prstGeom>
          <a:noFill/>
          <a:ln w="3175">
            <a:solidFill>
              <a:srgbClr val="11131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3657600"/>
            <a:ext cx="12161520" cy="0"/>
          </a:xfrm>
          <a:prstGeom prst="line">
            <a:avLst/>
          </a:prstGeom>
          <a:noFill/>
          <a:ln w="3175">
            <a:solidFill>
              <a:srgbClr val="11131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114800"/>
            <a:ext cx="12161520" cy="0"/>
          </a:xfrm>
          <a:prstGeom prst="line">
            <a:avLst/>
          </a:prstGeom>
          <a:noFill/>
          <a:ln w="3175">
            <a:solidFill>
              <a:srgbClr val="11131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4572000"/>
            <a:ext cx="12161520" cy="0"/>
          </a:xfrm>
          <a:prstGeom prst="line">
            <a:avLst/>
          </a:prstGeom>
          <a:noFill/>
          <a:ln w="3175">
            <a:solidFill>
              <a:srgbClr val="11131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029200"/>
            <a:ext cx="12161520" cy="0"/>
          </a:xfrm>
          <a:prstGeom prst="line">
            <a:avLst/>
          </a:prstGeom>
          <a:noFill/>
          <a:ln w="3175">
            <a:solidFill>
              <a:srgbClr val="11131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5486400"/>
            <a:ext cx="12161520" cy="0"/>
          </a:xfrm>
          <a:prstGeom prst="line">
            <a:avLst/>
          </a:prstGeom>
          <a:noFill/>
          <a:ln w="3175">
            <a:solidFill>
              <a:srgbClr val="11131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5943600"/>
            <a:ext cx="12161520" cy="0"/>
          </a:xfrm>
          <a:prstGeom prst="line">
            <a:avLst/>
          </a:prstGeom>
          <a:noFill/>
          <a:ln w="3175">
            <a:solidFill>
              <a:srgbClr val="11131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6400800"/>
            <a:ext cx="12161520" cy="0"/>
          </a:xfrm>
          <a:prstGeom prst="line">
            <a:avLst/>
          </a:prstGeom>
          <a:noFill/>
          <a:ln w="3175">
            <a:solidFill>
              <a:srgbClr val="11131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6858000"/>
            <a:ext cx="12161520" cy="0"/>
          </a:xfrm>
          <a:prstGeom prst="line">
            <a:avLst/>
          </a:prstGeom>
          <a:noFill/>
          <a:ln w="3175">
            <a:solidFill>
              <a:srgbClr val="11131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0" kern="0" dirty="0">
                <a:solidFill>
                  <a:srgbClr val="C59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FUTREENG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48640" y="182880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E8E2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Crain &amp; Wooley</a:t>
            </a:r>
            <a:endParaRPr lang="en-US" sz="7200" dirty="0"/>
          </a:p>
        </p:txBody>
      </p:sp>
      <p:sp>
        <p:nvSpPr>
          <p:cNvPr id="47" name="Text 45"/>
          <p:cNvSpPr/>
          <p:nvPr/>
        </p:nvSpPr>
        <p:spPr>
          <a:xfrm>
            <a:off x="548640" y="3017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E8E2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Intake Engine → SaaS Opportunity</a:t>
            </a:r>
            <a:endParaRPr lang="en-US" sz="3600" dirty="0"/>
          </a:p>
        </p:txBody>
      </p:sp>
      <p:sp>
        <p:nvSpPr>
          <p:cNvPr id="48" name="Shape 46"/>
          <p:cNvSpPr/>
          <p:nvPr/>
        </p:nvSpPr>
        <p:spPr>
          <a:xfrm>
            <a:off x="548640" y="3931920"/>
            <a:ext cx="1280160" cy="45720"/>
          </a:xfrm>
          <a:prstGeom prst="rect">
            <a:avLst/>
          </a:prstGeom>
          <a:solidFill>
            <a:srgbClr val="C5933A"/>
          </a:solidFill>
          <a:ln w="12700">
            <a:solidFill>
              <a:srgbClr val="C5933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8640" y="41605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8E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working product. A real client. A category-sized opening.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548640" y="512064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B7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PREPARED BY  </a:t>
            </a:r>
            <a:pPr indent="0" marL="0">
              <a:buNone/>
            </a:pPr>
            <a:r>
              <a:rPr lang="en-US" sz="1400" dirty="0">
                <a:solidFill>
                  <a:srgbClr val="E8E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Joseph Panetta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spc="400" kern="0" dirty="0">
                <a:solidFill>
                  <a:srgbClr val="6B7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 </a:t>
            </a:r>
            <a:pPr indent="0" marL="0">
              <a:buNone/>
            </a:pPr>
            <a:r>
              <a:rPr lang="en-US" sz="1400" dirty="0">
                <a:solidFill>
                  <a:srgbClr val="E8E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Haron "Q" Wilson — FutreEng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spc="400" kern="0" dirty="0">
                <a:solidFill>
                  <a:srgbClr val="6B7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  </a:t>
            </a:r>
            <a:pPr indent="0" marL="0">
              <a:buNone/>
            </a:pPr>
            <a:r>
              <a:rPr lang="en-US" sz="1400" dirty="0">
                <a:solidFill>
                  <a:srgbClr val="E8E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17,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"/>
            <a:ext cx="12161520" cy="10973"/>
          </a:xfrm>
          <a:prstGeom prst="rect">
            <a:avLst/>
          </a:prstGeom>
          <a:solidFill>
            <a:srgbClr val="2A2D35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E8E2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FUTREENG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0" y="10972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6B7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THE PATTERN WE FOUND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1097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E8E2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small firm trying to grow with the same intake process they had at 10 leads a month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548640" cy="41148"/>
          </a:xfrm>
          <a:prstGeom prst="rect">
            <a:avLst/>
          </a:prstGeom>
          <a:solidFill>
            <a:srgbClr val="C5933A"/>
          </a:solidFill>
          <a:ln w="12700">
            <a:solidFill>
              <a:srgbClr val="C593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194560"/>
            <a:ext cx="11064240" cy="2286000"/>
          </a:xfrm>
          <a:prstGeom prst="rect">
            <a:avLst/>
          </a:prstGeom>
          <a:solidFill>
            <a:srgbClr val="111318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194560"/>
            <a:ext cx="45720" cy="2286000"/>
          </a:xfrm>
          <a:prstGeom prst="rect">
            <a:avLst/>
          </a:prstGeom>
          <a:solidFill>
            <a:srgbClr val="C5933A"/>
          </a:solidFill>
          <a:ln w="12700">
            <a:solidFill>
              <a:srgbClr val="C593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3774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E8E2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"We have 3 intake staff for less than 100 consults per month. WE HAVE GOT TO REALIZE SOME EFFICIENCIES WITH TECHNOLOGY."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14400" y="3520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C59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Crain &amp; Wooley · April 30, 2026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38862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 existing flow: lead → human responds → human qualifies → human schedules → human follows up → human chases. Five manual touches per lead, three salaried staff to deliver them, and the firm still loses leads in the cracks.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754880"/>
            <a:ext cx="3657600" cy="1737360"/>
          </a:xfrm>
          <a:prstGeom prst="rect">
            <a:avLst/>
          </a:prstGeom>
          <a:solidFill>
            <a:srgbClr val="111318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754880"/>
            <a:ext cx="45720" cy="1737360"/>
          </a:xfrm>
          <a:prstGeom prst="rect">
            <a:avLst/>
          </a:prstGeom>
          <a:solidFill>
            <a:srgbClr val="C5933A"/>
          </a:solidFill>
          <a:ln w="12700">
            <a:solidFill>
              <a:srgbClr val="C593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91947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7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CONSULTS / MONTH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7240" y="52578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dirty="0">
                <a:solidFill>
                  <a:srgbClr val="E8E2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&lt;100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777240" y="5989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Today, with 3 intake staff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97680" y="4754880"/>
            <a:ext cx="3657600" cy="1737360"/>
          </a:xfrm>
          <a:prstGeom prst="rect">
            <a:avLst/>
          </a:prstGeom>
          <a:solidFill>
            <a:srgbClr val="111318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97680" y="4754880"/>
            <a:ext cx="45720" cy="1737360"/>
          </a:xfrm>
          <a:prstGeom prst="rect">
            <a:avLst/>
          </a:prstGeom>
          <a:solidFill>
            <a:srgbClr val="C5933A"/>
          </a:solidFill>
          <a:ln w="12700">
            <a:solidFill>
              <a:srgbClr val="C593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26280" y="491947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7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MANUAL TOUCHES / LEAD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26280" y="52578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dirty="0">
                <a:solidFill>
                  <a:srgbClr val="E8E2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5+</a:t>
            </a:r>
            <a:endParaRPr lang="en-US" sz="4800" dirty="0"/>
          </a:p>
        </p:txBody>
      </p:sp>
      <p:sp>
        <p:nvSpPr>
          <p:cNvPr id="22" name="Text 20"/>
          <p:cNvSpPr/>
          <p:nvPr/>
        </p:nvSpPr>
        <p:spPr>
          <a:xfrm>
            <a:off x="4526280" y="5989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one of them automatable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046720" y="4754880"/>
            <a:ext cx="3566160" cy="1737360"/>
          </a:xfrm>
          <a:prstGeom prst="rect">
            <a:avLst/>
          </a:prstGeom>
          <a:solidFill>
            <a:srgbClr val="111318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46720" y="4754880"/>
            <a:ext cx="45720" cy="1737360"/>
          </a:xfrm>
          <a:prstGeom prst="rect">
            <a:avLst/>
          </a:prstGeom>
          <a:solidFill>
            <a:srgbClr val="C5933A"/>
          </a:solidFill>
          <a:ln w="12700">
            <a:solidFill>
              <a:srgbClr val="C593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75320" y="49194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7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CONSULT FEE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75320" y="525780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dirty="0">
                <a:solidFill>
                  <a:srgbClr val="E8E2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$300</a:t>
            </a:r>
            <a:endParaRPr lang="en-US" sz="4800" dirty="0"/>
          </a:p>
        </p:txBody>
      </p:sp>
      <p:sp>
        <p:nvSpPr>
          <p:cNvPr id="27" name="Text 25"/>
          <p:cNvSpPr/>
          <p:nvPr/>
        </p:nvSpPr>
        <p:spPr>
          <a:xfrm>
            <a:off x="8275320" y="5989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on the table per booking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6473952"/>
            <a:ext cx="12161520" cy="10973"/>
          </a:xfrm>
          <a:prstGeom prst="rect">
            <a:avLst/>
          </a:prstGeom>
          <a:solidFill>
            <a:srgbClr val="2A2D35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656539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7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THIS FIRM IS ALREADY PAYING FOR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040880" y="65653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6B7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CRAIN &amp; WOOLEY · SAAS OPPORTUNITY · MAY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"/>
            <a:ext cx="12161520" cy="10973"/>
          </a:xfrm>
          <a:prstGeom prst="rect">
            <a:avLst/>
          </a:prstGeom>
          <a:solidFill>
            <a:srgbClr val="2A2D35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E8E2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FUTREENG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0" y="10972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6B7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WHAT WE BUILT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1097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E8E2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engines. One pipeline. Zero human touches between submit and onboard.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548640" cy="41148"/>
          </a:xfrm>
          <a:prstGeom prst="rect">
            <a:avLst/>
          </a:prstGeom>
          <a:solidFill>
            <a:srgbClr val="C5933A"/>
          </a:solidFill>
          <a:ln w="12700">
            <a:solidFill>
              <a:srgbClr val="C593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240280"/>
            <a:ext cx="5440680" cy="2057400"/>
          </a:xfrm>
          <a:prstGeom prst="rect">
            <a:avLst/>
          </a:prstGeom>
          <a:solidFill>
            <a:srgbClr val="111318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240280"/>
            <a:ext cx="45720" cy="2057400"/>
          </a:xfrm>
          <a:prstGeom prst="rect">
            <a:avLst/>
          </a:prstGeom>
          <a:solidFill>
            <a:srgbClr val="C5933A"/>
          </a:solidFill>
          <a:ln w="12700">
            <a:solidFill>
              <a:srgbClr val="C593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441448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0" kern="0" dirty="0">
                <a:solidFill>
                  <a:srgbClr val="C59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INTAKE GATE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274320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E2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Qualification before payment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22960" y="3337560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Four-step form with conditional logic. Auto-disqualifies bad-fit leads before they hit the firm. Estate-planning specific.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55080" y="2240280"/>
            <a:ext cx="5440680" cy="2057400"/>
          </a:xfrm>
          <a:prstGeom prst="rect">
            <a:avLst/>
          </a:prstGeom>
          <a:solidFill>
            <a:srgbClr val="111318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55080" y="2240280"/>
            <a:ext cx="45720" cy="2057400"/>
          </a:xfrm>
          <a:prstGeom prst="rect">
            <a:avLst/>
          </a:prstGeom>
          <a:solidFill>
            <a:srgbClr val="C5933A"/>
          </a:solidFill>
          <a:ln w="12700">
            <a:solidFill>
              <a:srgbClr val="C593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29400" y="2441448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0" kern="0" dirty="0">
                <a:solidFill>
                  <a:srgbClr val="C59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 BRIDGE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629400" y="274320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E2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$300 Stripe gate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629400" y="3337560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calendar slot without the consultation fee paid. Webhook validates, status flips, scheduling unlocks.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663440"/>
            <a:ext cx="5440680" cy="2057400"/>
          </a:xfrm>
          <a:prstGeom prst="rect">
            <a:avLst/>
          </a:prstGeom>
          <a:solidFill>
            <a:srgbClr val="111318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663440"/>
            <a:ext cx="45720" cy="2057400"/>
          </a:xfrm>
          <a:prstGeom prst="rect">
            <a:avLst/>
          </a:prstGeom>
          <a:solidFill>
            <a:srgbClr val="C5933A"/>
          </a:solidFill>
          <a:ln w="12700">
            <a:solidFill>
              <a:srgbClr val="C593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864608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0" kern="0" dirty="0">
                <a:solidFill>
                  <a:srgbClr val="C59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GHOST ASSISTANT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" y="516636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E2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4-day SMS + email nurture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22960" y="5760720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 confirmation, Day 1/4 SMS nudges, Day 2 email. Auto-cancels on pay, schedule, opt-out, or LOST.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55080" y="4663440"/>
            <a:ext cx="5440680" cy="2057400"/>
          </a:xfrm>
          <a:prstGeom prst="rect">
            <a:avLst/>
          </a:prstGeom>
          <a:solidFill>
            <a:srgbClr val="111318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55080" y="4663440"/>
            <a:ext cx="45720" cy="2057400"/>
          </a:xfrm>
          <a:prstGeom prst="rect">
            <a:avLst/>
          </a:prstGeom>
          <a:solidFill>
            <a:srgbClr val="C5933A"/>
          </a:solidFill>
          <a:ln w="12700">
            <a:solidFill>
              <a:srgbClr val="C593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29400" y="4864608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0" kern="0" dirty="0">
                <a:solidFill>
                  <a:srgbClr val="C59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ONBOARDING ACCELERATOR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629400" y="516636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E2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Clio Manage matter creation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629400" y="5760720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HIRED, fires Contact → Matter → Task list inside Clio. Client onboarded inside an hour, paralegal-free.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0" y="6473952"/>
            <a:ext cx="12161520" cy="10973"/>
          </a:xfrm>
          <a:prstGeom prst="rect">
            <a:avLst/>
          </a:prstGeom>
          <a:solidFill>
            <a:srgbClr val="2A2D35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656539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7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 END-TO-END · RUNNING AGAINST STAGING DATA TODAY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040880" y="65653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6B7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CRAIN &amp; WOOLEY · SAAS OPPORTUNITY · MAY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"/>
            <a:ext cx="12161520" cy="10973"/>
          </a:xfrm>
          <a:prstGeom prst="rect">
            <a:avLst/>
          </a:prstGeom>
          <a:solidFill>
            <a:srgbClr val="2A2D35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E8E2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FUTREENG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0" y="10972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6B7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WHAT WE BUILT — INTAKE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1097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E8E2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Public intake. Qualifies, prices, gates the calendar.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548640" cy="41148"/>
          </a:xfrm>
          <a:prstGeom prst="rect">
            <a:avLst/>
          </a:prstGeom>
          <a:solidFill>
            <a:srgbClr val="C5933A"/>
          </a:solidFill>
          <a:ln w="12700">
            <a:solidFill>
              <a:srgbClr val="C5933A"/>
            </a:solidFill>
            <a:prstDash val="solid"/>
          </a:ln>
        </p:spPr>
      </p:sp>
      <p:pic>
        <p:nvPicPr>
          <p:cNvPr id="8" name="Image 0" descr="/sessions/magical-eloquent-lamport/mnt/outputs/mocks/intak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103120"/>
            <a:ext cx="7772400" cy="42062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595360" y="2103120"/>
            <a:ext cx="3017520" cy="4206240"/>
          </a:xfrm>
          <a:prstGeom prst="rect">
            <a:avLst/>
          </a:prstGeom>
          <a:solidFill>
            <a:srgbClr val="111318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95360" y="2103120"/>
            <a:ext cx="45720" cy="4206240"/>
          </a:xfrm>
          <a:prstGeom prst="rect">
            <a:avLst/>
          </a:prstGeom>
          <a:solidFill>
            <a:srgbClr val="C5933A"/>
          </a:solidFill>
          <a:ln w="12700">
            <a:solidFill>
              <a:srgbClr val="C5933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778240" y="2286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0" kern="0" dirty="0">
                <a:solidFill>
                  <a:srgbClr val="C59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 LOGIC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778240" y="2651760"/>
            <a:ext cx="2743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8E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Four-step form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8E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qualification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8E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Auto-disqualify bad fit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8E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$300 fee disclosed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8E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Pushes lead to Clio Grow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8E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Mobile-first responsive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0" y="6473952"/>
            <a:ext cx="12161520" cy="10973"/>
          </a:xfrm>
          <a:prstGeom prst="rect">
            <a:avLst/>
          </a:prstGeom>
          <a:solidFill>
            <a:srgbClr val="2A2D35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656539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7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3 OF 4 — QUALIFICATION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040880" y="65653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6B7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CRAIN &amp; WOOLEY · SAAS OPPORTUNITY · MAY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"/>
            <a:ext cx="12161520" cy="10973"/>
          </a:xfrm>
          <a:prstGeom prst="rect">
            <a:avLst/>
          </a:prstGeom>
          <a:solidFill>
            <a:srgbClr val="2A2D35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E8E2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FUTREENG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0" y="10972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6B7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WHAT WE BUILT — ADMIN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1097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E8E2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lead, every status, one view. CSV export one click.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548640" cy="41148"/>
          </a:xfrm>
          <a:prstGeom prst="rect">
            <a:avLst/>
          </a:prstGeom>
          <a:solidFill>
            <a:srgbClr val="C5933A"/>
          </a:solidFill>
          <a:ln w="12700">
            <a:solidFill>
              <a:srgbClr val="C5933A"/>
            </a:solidFill>
            <a:prstDash val="solid"/>
          </a:ln>
        </p:spPr>
      </p:sp>
      <p:pic>
        <p:nvPicPr>
          <p:cNvPr id="8" name="Image 0" descr="/sessions/magical-eloquent-lamport/mnt/outputs/mocks/pipelin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103120"/>
            <a:ext cx="7772400" cy="42062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595360" y="2103120"/>
            <a:ext cx="3017520" cy="4206240"/>
          </a:xfrm>
          <a:prstGeom prst="rect">
            <a:avLst/>
          </a:prstGeom>
          <a:solidFill>
            <a:srgbClr val="111318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95360" y="2103120"/>
            <a:ext cx="45720" cy="4206240"/>
          </a:xfrm>
          <a:prstGeom prst="rect">
            <a:avLst/>
          </a:prstGeom>
          <a:solidFill>
            <a:srgbClr val="C5933A"/>
          </a:solidFill>
          <a:ln w="12700">
            <a:solidFill>
              <a:srgbClr val="C5933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778240" y="2286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0" kern="0" dirty="0">
                <a:solidFill>
                  <a:srgbClr val="C59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 POWERS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778240" y="2651760"/>
            <a:ext cx="2743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8E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8E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filtering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8E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detail drawer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8E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lead + audit export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8E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HIRED → fires Clio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8E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Opt-out badge inline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0" y="6473952"/>
            <a:ext cx="12161520" cy="10973"/>
          </a:xfrm>
          <a:prstGeom prst="rect">
            <a:avLst/>
          </a:prstGeom>
          <a:solidFill>
            <a:srgbClr val="2A2D35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656539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7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PRODUCTION-READY ADMIN UI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040880" y="65653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6B7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CRAIN &amp; WOOLEY · SAAS OPPORTUNITY · MAY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"/>
            <a:ext cx="12161520" cy="10973"/>
          </a:xfrm>
          <a:prstGeom prst="rect">
            <a:avLst/>
          </a:prstGeom>
          <a:solidFill>
            <a:srgbClr val="2A2D35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E8E2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FUTREENG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0" y="10972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6B7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WHAT WE BUILT — NURTURE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1097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E8E2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Sequence Control Center. Durable. TCPA-compliant. Dead-letter handled.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548640" cy="41148"/>
          </a:xfrm>
          <a:prstGeom prst="rect">
            <a:avLst/>
          </a:prstGeom>
          <a:solidFill>
            <a:srgbClr val="C5933A"/>
          </a:solidFill>
          <a:ln w="12700">
            <a:solidFill>
              <a:srgbClr val="C5933A"/>
            </a:solidFill>
            <a:prstDash val="solid"/>
          </a:ln>
        </p:spPr>
      </p:sp>
      <p:pic>
        <p:nvPicPr>
          <p:cNvPr id="8" name="Image 0" descr="/sessions/magical-eloquent-lamport/mnt/outputs/mocks/gho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103120"/>
            <a:ext cx="7772400" cy="42062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595360" y="2103120"/>
            <a:ext cx="3017520" cy="4206240"/>
          </a:xfrm>
          <a:prstGeom prst="rect">
            <a:avLst/>
          </a:prstGeom>
          <a:solidFill>
            <a:srgbClr val="111318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95360" y="2103120"/>
            <a:ext cx="45720" cy="4206240"/>
          </a:xfrm>
          <a:prstGeom prst="rect">
            <a:avLst/>
          </a:prstGeom>
          <a:solidFill>
            <a:srgbClr val="C5933A"/>
          </a:solidFill>
          <a:ln w="12700">
            <a:solidFill>
              <a:srgbClr val="C5933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778240" y="2286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0" kern="0" dirty="0">
                <a:solidFill>
                  <a:srgbClr val="C59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RELIABILITY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778240" y="2651760"/>
            <a:ext cx="2743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8E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Exponential backoff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8E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Idempotency keys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8E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Dead-letter threshold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8E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/ START handler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8E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Editable templates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8E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audit trail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0" y="6473952"/>
            <a:ext cx="12161520" cy="10973"/>
          </a:xfrm>
          <a:prstGeom prst="rect">
            <a:avLst/>
          </a:prstGeom>
          <a:solidFill>
            <a:srgbClr val="2A2D35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656539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7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4-DAY NURTURE · AUTO-CANCEL ON PAY / SCHEDULE / OPT-OUT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040880" y="65653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6B7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CRAIN &amp; WOOLEY · SAAS OPPORTUNITY · MAY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"/>
            <a:ext cx="12161520" cy="10973"/>
          </a:xfrm>
          <a:prstGeom prst="rect">
            <a:avLst/>
          </a:prstGeom>
          <a:solidFill>
            <a:srgbClr val="2A2D35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E8E2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FUTREENG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0" y="10972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6B7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WHERE IT STANDS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1097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E8E2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complete. Blocked on access, not engineering.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548640" cy="41148"/>
          </a:xfrm>
          <a:prstGeom prst="rect">
            <a:avLst/>
          </a:prstGeom>
          <a:solidFill>
            <a:srgbClr val="C5933A"/>
          </a:solidFill>
          <a:ln w="12700">
            <a:solidFill>
              <a:srgbClr val="C593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103120"/>
            <a:ext cx="5486400" cy="4297680"/>
          </a:xfrm>
          <a:prstGeom prst="rect">
            <a:avLst/>
          </a:prstGeom>
          <a:solidFill>
            <a:srgbClr val="111318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103120"/>
            <a:ext cx="45720" cy="4297680"/>
          </a:xfrm>
          <a:prstGeom prst="rect">
            <a:avLst/>
          </a:prstGeom>
          <a:solidFill>
            <a:srgbClr val="3A7D5A"/>
          </a:solidFill>
          <a:ln w="12700">
            <a:solidFill>
              <a:srgbClr val="3A7D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2860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3A7D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SHIPPED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269748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8E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Multi-step intake + qualification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8E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$300 Stripe payment gate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8E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4-day Ghost Assistant nurture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8E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Durable retries, dead-letter, idempotency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8E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TCPA opt-out (STOP/START + unsubscribe)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8E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auth with 3-tier RBAC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8E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Control Center + templates editor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8E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exports + audit trail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8E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Vault-dark design system end to end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2103120"/>
            <a:ext cx="5486400" cy="4297680"/>
          </a:xfrm>
          <a:prstGeom prst="rect">
            <a:avLst/>
          </a:prstGeom>
          <a:solidFill>
            <a:srgbClr val="111318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2103120"/>
            <a:ext cx="45720" cy="4297680"/>
          </a:xfrm>
          <a:prstGeom prst="rect">
            <a:avLst/>
          </a:prstGeom>
          <a:solidFill>
            <a:srgbClr val="D95D39"/>
          </a:solidFill>
          <a:ln w="12700">
            <a:solidFill>
              <a:srgbClr val="D95D3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2860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D95D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BLOCKED ON ACCESS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0" y="2697480"/>
            <a:ext cx="5120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8E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 account + API keys (firm)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8E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Clio Developer App (firm admin)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8E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task checklist (paralegal)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8E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"Hired" trigger definition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8E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 access for crainwooley.com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8E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Twilio area-code preference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92240" y="54406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self-served via the new Clio Grow login: practice areas, scheduler event types, pipeline stages, Inbox URL.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6473952"/>
            <a:ext cx="12161520" cy="10973"/>
          </a:xfrm>
          <a:prstGeom prst="rect">
            <a:avLst/>
          </a:prstGeom>
          <a:solidFill>
            <a:srgbClr val="2A2D35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56539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7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 ITEM IS ACCESS, NOT ARCHITECTURE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040880" y="65653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6B7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CRAIN &amp; WOOLEY · SAAS OPPORTUNITY · MAY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"/>
            <a:ext cx="12161520" cy="10973"/>
          </a:xfrm>
          <a:prstGeom prst="rect">
            <a:avLst/>
          </a:prstGeom>
          <a:solidFill>
            <a:srgbClr val="2A2D35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E8E2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FUTREENG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0" y="10972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6B7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THE BIGGER PLAY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1097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E8E2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C&amp;W is not the deliverable. C&amp;W is the design partner.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548640" cy="41148"/>
          </a:xfrm>
          <a:prstGeom prst="rect">
            <a:avLst/>
          </a:prstGeom>
          <a:solidFill>
            <a:srgbClr val="C5933A"/>
          </a:solidFill>
          <a:ln w="12700">
            <a:solidFill>
              <a:srgbClr val="C593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194560"/>
            <a:ext cx="11064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E8E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 for Crain &amp; Wooley is product. Estate-planning intake is one vertical of a category that already pays $200-800/mo per firm to companies like Lawmatics, Lead Docket, and Captorra. There are 150,000 Clio customers in the US small/solo segment. Most of them suffer the exact problem the firm described — manual intake, lost leads, no payment gate, no follow-up cadence.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4114800"/>
            <a:ext cx="3611880" cy="2286000"/>
          </a:xfrm>
          <a:prstGeom prst="rect">
            <a:avLst/>
          </a:prstGeom>
          <a:solidFill>
            <a:srgbClr val="111318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4114800"/>
            <a:ext cx="45720" cy="2286000"/>
          </a:xfrm>
          <a:prstGeom prst="rect">
            <a:avLst/>
          </a:prstGeom>
          <a:solidFill>
            <a:srgbClr val="C5933A"/>
          </a:solidFill>
          <a:ln w="12700">
            <a:solidFill>
              <a:srgbClr val="C593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297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0" kern="0" dirty="0">
                <a:solidFill>
                  <a:srgbClr val="C59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MARKET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46177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8E2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~440K firms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77240" y="53492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small/solo law firms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~150K already on Clio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43400" y="4114800"/>
            <a:ext cx="3611880" cy="2286000"/>
          </a:xfrm>
          <a:prstGeom prst="rect">
            <a:avLst/>
          </a:prstGeom>
          <a:solidFill>
            <a:srgbClr val="111318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43400" y="4114800"/>
            <a:ext cx="45720" cy="2286000"/>
          </a:xfrm>
          <a:prstGeom prst="rect">
            <a:avLst/>
          </a:prstGeom>
          <a:solidFill>
            <a:srgbClr val="C5933A"/>
          </a:solidFill>
          <a:ln w="12700">
            <a:solidFill>
              <a:srgbClr val="C593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4297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0" kern="0" dirty="0">
                <a:solidFill>
                  <a:srgbClr val="C59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PRICE BAND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0" y="46177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8E2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$399–699/mo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572000" y="53492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Established by competitors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70–80% gross margin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38160" y="4114800"/>
            <a:ext cx="3611880" cy="2286000"/>
          </a:xfrm>
          <a:prstGeom prst="rect">
            <a:avLst/>
          </a:prstGeom>
          <a:solidFill>
            <a:srgbClr val="111318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38160" y="4114800"/>
            <a:ext cx="45720" cy="2286000"/>
          </a:xfrm>
          <a:prstGeom prst="rect">
            <a:avLst/>
          </a:prstGeom>
          <a:solidFill>
            <a:srgbClr val="C5933A"/>
          </a:solidFill>
          <a:ln w="12700">
            <a:solidFill>
              <a:srgbClr val="C593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66760" y="4297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0" kern="0" dirty="0">
                <a:solidFill>
                  <a:srgbClr val="C59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EXIT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366760" y="46177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8E2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5–10× ARR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8366760" y="53492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Vertical SaaS multiples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$25–150M at $5–10M ARR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0" y="6473952"/>
            <a:ext cx="12161520" cy="10973"/>
          </a:xfrm>
          <a:prstGeom prst="rect">
            <a:avLst/>
          </a:prstGeom>
          <a:solidFill>
            <a:srgbClr val="2A2D35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656539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7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 HAVE THE PRODUCT. THE CATEGORY IS WAITING.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040880" y="65653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6B7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CRAIN &amp; WOOLEY · SAAS OPPORTUNITY · MAY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"/>
            <a:ext cx="12161520" cy="10973"/>
          </a:xfrm>
          <a:prstGeom prst="rect">
            <a:avLst/>
          </a:prstGeom>
          <a:solidFill>
            <a:srgbClr val="2A2D35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E8E2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FUTREENG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0" y="10972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6B7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WHO IS ALREADY HERE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1097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E8E2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Established competitors, established price points.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548640" cy="41148"/>
          </a:xfrm>
          <a:prstGeom prst="rect">
            <a:avLst/>
          </a:prstGeom>
          <a:solidFill>
            <a:srgbClr val="C5933A"/>
          </a:solidFill>
          <a:ln w="12700">
            <a:solidFill>
              <a:srgbClr val="C593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240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B7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COMPANY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91840" y="2240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B7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0" y="22402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B7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412480" y="2240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B7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POSITION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560320"/>
            <a:ext cx="11064240" cy="10973"/>
          </a:xfrm>
          <a:prstGeom prst="rect">
            <a:avLst/>
          </a:prstGeom>
          <a:solidFill>
            <a:srgbClr val="2A2D35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743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Lawmatics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2743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$300–500/mo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0" y="2743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Raised $10M Series A (2022)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12480" y="2743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management + intake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33101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Docket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91840" y="33101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$200/user/mo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0" y="33101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Acquired by ClickCease (2023)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12480" y="33101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injury focus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387705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Captorra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91840" y="387705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$200–400/mo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0" y="387705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Private, ~$10–20M revenue est.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412480" y="387705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 tort + class action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444398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Smith.ai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291840" y="444398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$300–1,000/mo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0" y="444398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receptionist tier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412480" y="444398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People-driven w/ tech wrap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50109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Clio Grow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291840" y="501091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$49/user/mo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0" y="501091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Clio product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412480" y="501091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 CRM only — no automation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57200" y="5504688"/>
            <a:ext cx="11247120" cy="502920"/>
          </a:xfrm>
          <a:prstGeom prst="rect">
            <a:avLst/>
          </a:prstGeom>
          <a:solidFill>
            <a:srgbClr val="111318"/>
          </a:solidFill>
          <a:ln w="12700">
            <a:solidFill>
              <a:srgbClr val="8A642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5577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59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FutreEng (us)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291840" y="5577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59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$499/mo + rev share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486400" y="5577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59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Built. One firm live. Multi-tenant pending.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412480" y="55778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59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Vertical-specific, payment-native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0" y="6473952"/>
            <a:ext cx="12161520" cy="10973"/>
          </a:xfrm>
          <a:prstGeom prst="rect">
            <a:avLst/>
          </a:prstGeom>
          <a:solidFill>
            <a:srgbClr val="2A2D35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656539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7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 ARE NOT INVENTING THE CATEGORY — WE ARE ENTERING IT WITH AN ADVANTAGE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040880" y="65653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6B7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CRAIN &amp; WOOLEY · SAAS OPPORTUNITY · MAY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"/>
            <a:ext cx="12161520" cy="10973"/>
          </a:xfrm>
          <a:prstGeom prst="rect">
            <a:avLst/>
          </a:prstGeom>
          <a:solidFill>
            <a:srgbClr val="2A2D35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E8E2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FUTREENG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0" y="10972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6B7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UNIT ECONOMICS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1097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E8E2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Vertical SaaS economics, with a built-in payments multiplier.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548640" cy="41148"/>
          </a:xfrm>
          <a:prstGeom prst="rect">
            <a:avLst/>
          </a:prstGeom>
          <a:solidFill>
            <a:srgbClr val="C5933A"/>
          </a:solidFill>
          <a:ln w="12700">
            <a:solidFill>
              <a:srgbClr val="C593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194560"/>
            <a:ext cx="5303520" cy="4114800"/>
          </a:xfrm>
          <a:prstGeom prst="rect">
            <a:avLst/>
          </a:prstGeom>
          <a:solidFill>
            <a:srgbClr val="111318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194560"/>
            <a:ext cx="45720" cy="4114800"/>
          </a:xfrm>
          <a:prstGeom prst="rect">
            <a:avLst/>
          </a:prstGeom>
          <a:solidFill>
            <a:srgbClr val="C5933A"/>
          </a:solidFill>
          <a:ln w="12700">
            <a:solidFill>
              <a:srgbClr val="C593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3774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0" kern="0" dirty="0">
                <a:solidFill>
                  <a:srgbClr val="C59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 FIRM, PER MONTH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7889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subscription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0" y="27889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E8E2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$499.00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32918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 cost (hosting / SMS)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14800" y="32918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B7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($120.00)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37947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 processing on $30K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114800" y="37947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B7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($870.00)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42976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7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 rev share (5%)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0" y="42976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A7D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+$1,500.00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77240" y="4727448"/>
            <a:ext cx="4937760" cy="10973"/>
          </a:xfrm>
          <a:prstGeom prst="rect">
            <a:avLst/>
          </a:prstGeom>
          <a:solidFill>
            <a:srgbClr val="2A2D35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8006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9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per firm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114800" y="48006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59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~$1,009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5760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Assumes 100 consults/mo at $300, comparable to C&amp;W target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26480" y="2194560"/>
            <a:ext cx="5486400" cy="4114800"/>
          </a:xfrm>
          <a:prstGeom prst="rect">
            <a:avLst/>
          </a:prstGeom>
          <a:solidFill>
            <a:srgbClr val="111318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26480" y="2194560"/>
            <a:ext cx="45720" cy="4114800"/>
          </a:xfrm>
          <a:prstGeom prst="rect">
            <a:avLst/>
          </a:prstGeom>
          <a:solidFill>
            <a:srgbClr val="C5933A"/>
          </a:solidFill>
          <a:ln w="12700">
            <a:solidFill>
              <a:srgbClr val="C593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2377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0" kern="0" dirty="0">
                <a:solidFill>
                  <a:srgbClr val="C59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MARGIN STORY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55080" y="274320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dirty="0">
                <a:solidFill>
                  <a:srgbClr val="E8E2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75%+</a:t>
            </a:r>
            <a:endParaRPr lang="en-US" sz="12000" dirty="0"/>
          </a:p>
        </p:txBody>
      </p:sp>
      <p:sp>
        <p:nvSpPr>
          <p:cNvPr id="27" name="Text 25"/>
          <p:cNvSpPr/>
          <p:nvPr/>
        </p:nvSpPr>
        <p:spPr>
          <a:xfrm>
            <a:off x="6355080" y="448056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margin at the subscription line. The payments rev share runs at ~95% margin on top of that — it is pure platform yield on dollars already moving through Stripe.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0" y="6473952"/>
            <a:ext cx="12161520" cy="10973"/>
          </a:xfrm>
          <a:prstGeom prst="rect">
            <a:avLst/>
          </a:prstGeom>
          <a:solidFill>
            <a:srgbClr val="2A2D35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656539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7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THE NUMBERS OF A CONSULTANCY — THE NUMBERS OF A SOFTWARE BUSINESS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040880" y="65653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6B7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CRAIN &amp; WOOLEY · SAAS OPPORTUNITY · MAY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"/>
            <a:ext cx="12161520" cy="10973"/>
          </a:xfrm>
          <a:prstGeom prst="rect">
            <a:avLst/>
          </a:prstGeom>
          <a:solidFill>
            <a:srgbClr val="2A2D35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E8E2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FUTREENG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0" y="10972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6B7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THE HIDDEN LEVER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1097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E8E2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legal SaaS doesn't touch the payment flow. We're built around it.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548640" cy="41148"/>
          </a:xfrm>
          <a:prstGeom prst="rect">
            <a:avLst/>
          </a:prstGeom>
          <a:solidFill>
            <a:srgbClr val="C5933A"/>
          </a:solidFill>
          <a:ln w="12700">
            <a:solidFill>
              <a:srgbClr val="C593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194560"/>
            <a:ext cx="11064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E8E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Crain &amp; Wooley runs $30,000 per month in consult fees through Stripe. At 250 firms doing the same thing, that is $7.5M in monthly payment volume crossing our infrastructure. Stripe Connect destination charges let us take 5-10% of every transaction as a platform fee, on top of the subscription. This is the difference between a $1.5M ARR business and a $4–6M ARR business with the same customer count.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4480560"/>
            <a:ext cx="3657600" cy="2011680"/>
          </a:xfrm>
          <a:prstGeom prst="rect">
            <a:avLst/>
          </a:prstGeom>
          <a:solidFill>
            <a:srgbClr val="111318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4480560"/>
            <a:ext cx="45720" cy="2011680"/>
          </a:xfrm>
          <a:prstGeom prst="rect">
            <a:avLst/>
          </a:prstGeom>
          <a:solidFill>
            <a:srgbClr val="C5933A"/>
          </a:solidFill>
          <a:ln w="12700">
            <a:solidFill>
              <a:srgbClr val="C593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64515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7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FIRMS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" y="49834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E8E2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$3.6M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777240" y="5989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annualized payment volume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97680" y="4480560"/>
            <a:ext cx="3657600" cy="2011680"/>
          </a:xfrm>
          <a:prstGeom prst="rect">
            <a:avLst/>
          </a:prstGeom>
          <a:solidFill>
            <a:srgbClr val="111318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97680" y="4480560"/>
            <a:ext cx="45720" cy="2011680"/>
          </a:xfrm>
          <a:prstGeom prst="rect">
            <a:avLst/>
          </a:prstGeom>
          <a:solidFill>
            <a:srgbClr val="C5933A"/>
          </a:solidFill>
          <a:ln w="12700">
            <a:solidFill>
              <a:srgbClr val="C593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26280" y="464515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7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 FIRMS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26280" y="49834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E8E2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$36M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526280" y="5989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annualized payment volume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46720" y="4480560"/>
            <a:ext cx="3566160" cy="2011680"/>
          </a:xfrm>
          <a:prstGeom prst="rect">
            <a:avLst/>
          </a:prstGeom>
          <a:solidFill>
            <a:srgbClr val="111318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0" y="4480560"/>
            <a:ext cx="45720" cy="2011680"/>
          </a:xfrm>
          <a:prstGeom prst="rect">
            <a:avLst/>
          </a:prstGeom>
          <a:solidFill>
            <a:srgbClr val="C5933A"/>
          </a:solidFill>
          <a:ln w="12700">
            <a:solidFill>
              <a:srgbClr val="C593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75320" y="46451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7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 FIRMS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75320" y="49834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E8E2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$180M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8275320" y="5989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annualized payment volume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6473952"/>
            <a:ext cx="12161520" cy="10973"/>
          </a:xfrm>
          <a:prstGeom prst="rect">
            <a:avLst/>
          </a:prstGeom>
          <a:solidFill>
            <a:srgbClr val="2A2D35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656539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7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 $1M IN PAYMENT VOLUME = $50K–100K IN PLATFORM REVENUE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040880" y="65653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6B7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CRAIN &amp; WOOLEY · SAAS OPPORTUNITY · MAY 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"/>
            <a:ext cx="12161520" cy="10973"/>
          </a:xfrm>
          <a:prstGeom prst="rect">
            <a:avLst/>
          </a:prstGeom>
          <a:solidFill>
            <a:srgbClr val="2A2D35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E8E2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FUTREENG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0" y="10972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6B7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3-YEAR TRAJECTORY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1097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E8E2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Conservative path to $5M ARR. Real, not aspirational.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548640" cy="41148"/>
          </a:xfrm>
          <a:prstGeom prst="rect">
            <a:avLst/>
          </a:prstGeom>
          <a:solidFill>
            <a:srgbClr val="C5933A"/>
          </a:solidFill>
          <a:ln w="12700">
            <a:solidFill>
              <a:srgbClr val="C5933A"/>
            </a:solidFill>
            <a:prstDash val="solid"/>
          </a:ln>
        </p:spPr>
      </p:sp>
      <p:graphicFrame>
        <p:nvGraphicFramePr>
          <p:cNvPr id="8" name="Chart 0" descr=""/>
          <p:cNvGraphicFramePr/>
          <p:nvPr/>
        </p:nvGraphicFramePr>
        <p:xfrm>
          <a:off x="548640" y="2194560"/>
          <a:ext cx="77724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8595360" y="2194560"/>
            <a:ext cx="3017520" cy="4023360"/>
          </a:xfrm>
          <a:prstGeom prst="rect">
            <a:avLst/>
          </a:prstGeom>
          <a:solidFill>
            <a:srgbClr val="111318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95360" y="2194560"/>
            <a:ext cx="45720" cy="4023360"/>
          </a:xfrm>
          <a:prstGeom prst="rect">
            <a:avLst/>
          </a:prstGeom>
          <a:solidFill>
            <a:srgbClr val="C5933A"/>
          </a:solidFill>
          <a:ln w="12700">
            <a:solidFill>
              <a:srgbClr val="C5933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778240" y="2377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0" kern="0" dirty="0">
                <a:solidFill>
                  <a:srgbClr val="C59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 THE CURVE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778240" y="2697480"/>
            <a:ext cx="27432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6B7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→ 30 firms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6B7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$60K–180K ARR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8E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2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6B7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firms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6B7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$600K–2.4M ARR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8E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3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6B7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 firms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6B7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$1.8M–7.2M ARR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59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Ceiling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6B7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 firms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6B7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$6M–24M ARR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0" y="6473952"/>
            <a:ext cx="12161520" cy="10973"/>
          </a:xfrm>
          <a:prstGeom prst="rect">
            <a:avLst/>
          </a:prstGeom>
          <a:solidFill>
            <a:srgbClr val="2A2D35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656539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7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PROJECTIONS · ASSUMES 5% PAYMENT REV SHARE + $499 SUBSCRIPTION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040880" y="65653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6B7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CRAIN &amp; WOOLEY · SAAS OPPORTUNITY · MAY 2026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"/>
            <a:ext cx="12161520" cy="10973"/>
          </a:xfrm>
          <a:prstGeom prst="rect">
            <a:avLst/>
          </a:prstGeom>
          <a:solidFill>
            <a:srgbClr val="2A2D35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E8E2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FUTREENG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0" y="10972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6B7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WHAT COULD KILL THIS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1097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E8E2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risks I would name before someone else does.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548640" cy="41148"/>
          </a:xfrm>
          <a:prstGeom prst="rect">
            <a:avLst/>
          </a:prstGeom>
          <a:solidFill>
            <a:srgbClr val="C5933A"/>
          </a:solidFill>
          <a:ln w="12700">
            <a:solidFill>
              <a:srgbClr val="C593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194560"/>
            <a:ext cx="5486400" cy="1965960"/>
          </a:xfrm>
          <a:prstGeom prst="rect">
            <a:avLst/>
          </a:prstGeom>
          <a:solidFill>
            <a:srgbClr val="111318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194560"/>
            <a:ext cx="45720" cy="1965960"/>
          </a:xfrm>
          <a:prstGeom prst="rect">
            <a:avLst/>
          </a:prstGeom>
          <a:solidFill>
            <a:srgbClr val="D95D39"/>
          </a:solidFill>
          <a:ln w="12700">
            <a:solidFill>
              <a:srgbClr val="D95D3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4231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E2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Clio builds it themselves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22960" y="29718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have Clio Grow. They could ship automation natively for free. Hedge: be practice-area specific and TCPA-deep in ways they will not.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2194560"/>
            <a:ext cx="5486400" cy="1965960"/>
          </a:xfrm>
          <a:prstGeom prst="rect">
            <a:avLst/>
          </a:prstGeom>
          <a:solidFill>
            <a:srgbClr val="111318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2194560"/>
            <a:ext cx="45720" cy="1965960"/>
          </a:xfrm>
          <a:prstGeom prst="rect">
            <a:avLst/>
          </a:prstGeom>
          <a:solidFill>
            <a:srgbClr val="D95D39"/>
          </a:solidFill>
          <a:ln w="12700">
            <a:solidFill>
              <a:srgbClr val="D95D3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24231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E2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Multi-tenant refactor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537960" y="29718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build is single-tenant. Six months of engineering to safely onboard customer #2 without exposing customer #1's data.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343400"/>
            <a:ext cx="5486400" cy="1965960"/>
          </a:xfrm>
          <a:prstGeom prst="rect">
            <a:avLst/>
          </a:prstGeom>
          <a:solidFill>
            <a:srgbClr val="111318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343400"/>
            <a:ext cx="45720" cy="1965960"/>
          </a:xfrm>
          <a:prstGeom prst="rect">
            <a:avLst/>
          </a:prstGeom>
          <a:solidFill>
            <a:srgbClr val="D95D39"/>
          </a:solidFill>
          <a:ln w="12700">
            <a:solidFill>
              <a:srgbClr val="D95D3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5720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E2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 cycle is slow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22960" y="512064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 firms are conservative buyers. 30–90 days, CAC $1.5–5K. Need a wedge: partnership, content, or a community of Clio Certified Consultants.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63640" y="4343400"/>
            <a:ext cx="5486400" cy="1965960"/>
          </a:xfrm>
          <a:prstGeom prst="rect">
            <a:avLst/>
          </a:prstGeom>
          <a:solidFill>
            <a:srgbClr val="111318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63640" y="4343400"/>
            <a:ext cx="45720" cy="1965960"/>
          </a:xfrm>
          <a:prstGeom prst="rect">
            <a:avLst/>
          </a:prstGeom>
          <a:solidFill>
            <a:srgbClr val="D95D39"/>
          </a:solidFill>
          <a:ln w="12700">
            <a:solidFill>
              <a:srgbClr val="D95D3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45720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E2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Practice-area sprawl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537960" y="512064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Estate planning ≠ PI ≠ family law ≠ immigration. Each new vertical is 2–4 weeks of templates and qualification logic. Don't promise five.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0" y="6473952"/>
            <a:ext cx="12161520" cy="10973"/>
          </a:xfrm>
          <a:prstGeom prst="rect">
            <a:avLst/>
          </a:prstGeom>
          <a:solidFill>
            <a:srgbClr val="2A2D35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656539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7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 OF THESE ARE FATAL. ALL OF THEM NEED A PLAN.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040880" y="65653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6B7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CRAIN &amp; WOOLEY · SAAS OPPORTUNITY · MAY 2026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"/>
            <a:ext cx="12161520" cy="10973"/>
          </a:xfrm>
          <a:prstGeom prst="rect">
            <a:avLst/>
          </a:prstGeom>
          <a:solidFill>
            <a:srgbClr val="2A2D35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E8E2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FUTREENG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0" y="10972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6B7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THE PLAY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1097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E8E2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Sell installs. Refactor multi-tenant. Decide at firm 10.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548640" cy="41148"/>
          </a:xfrm>
          <a:prstGeom prst="rect">
            <a:avLst/>
          </a:prstGeom>
          <a:solidFill>
            <a:srgbClr val="C5933A"/>
          </a:solidFill>
          <a:ln w="12700">
            <a:solidFill>
              <a:srgbClr val="C593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240280"/>
            <a:ext cx="3657600" cy="4160520"/>
          </a:xfrm>
          <a:prstGeom prst="rect">
            <a:avLst/>
          </a:prstGeom>
          <a:solidFill>
            <a:srgbClr val="111318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240280"/>
            <a:ext cx="45720" cy="4160520"/>
          </a:xfrm>
          <a:prstGeom prst="rect">
            <a:avLst/>
          </a:prstGeom>
          <a:solidFill>
            <a:srgbClr val="C5933A"/>
          </a:solidFill>
          <a:ln w="12700">
            <a:solidFill>
              <a:srgbClr val="C593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423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dirty="0">
                <a:solidFill>
                  <a:srgbClr val="C59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822960" y="3383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B7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 — 3 MONTHS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36576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E2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Land C&amp;W. Banner case study.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22960" y="4663440"/>
            <a:ext cx="320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 the Clio integration once the firm's creds arrive. Go live. Document the 1-month conversion lift, time-to-onboard, $300-fee capture rate. C&amp;W becomes the design partner reference call we lean on for every subsequent sale.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89120" y="2240280"/>
            <a:ext cx="3657600" cy="4160520"/>
          </a:xfrm>
          <a:prstGeom prst="rect">
            <a:avLst/>
          </a:prstGeom>
          <a:solidFill>
            <a:srgbClr val="111318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0" y="2240280"/>
            <a:ext cx="45720" cy="4160520"/>
          </a:xfrm>
          <a:prstGeom prst="rect">
            <a:avLst/>
          </a:prstGeom>
          <a:solidFill>
            <a:srgbClr val="C5933A"/>
          </a:solidFill>
          <a:ln w="12700">
            <a:solidFill>
              <a:srgbClr val="C593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2423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dirty="0">
                <a:solidFill>
                  <a:srgbClr val="C59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5600" dirty="0"/>
          </a:p>
        </p:txBody>
      </p:sp>
      <p:sp>
        <p:nvSpPr>
          <p:cNvPr id="17" name="Text 15"/>
          <p:cNvSpPr/>
          <p:nvPr/>
        </p:nvSpPr>
        <p:spPr>
          <a:xfrm>
            <a:off x="4663440" y="3383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B7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— 9 MONTHS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63440" y="36576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E2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Sell 5–10 bespoke installs.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663440" y="4663440"/>
            <a:ext cx="320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$7.5K setup + $999/mo per firm to similar estate-planning practices, sourced through Crain &amp; Wooley's network and ours. This funds the multi-tenant refactor in parallel and validates pricing before we commit to self-serve.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0" y="2240280"/>
            <a:ext cx="3657600" cy="4160520"/>
          </a:xfrm>
          <a:prstGeom prst="rect">
            <a:avLst/>
          </a:prstGeom>
          <a:solidFill>
            <a:srgbClr val="111318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0" y="2240280"/>
            <a:ext cx="45720" cy="4160520"/>
          </a:xfrm>
          <a:prstGeom prst="rect">
            <a:avLst/>
          </a:prstGeom>
          <a:solidFill>
            <a:srgbClr val="C5933A"/>
          </a:solidFill>
          <a:ln w="12700">
            <a:solidFill>
              <a:srgbClr val="C593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3920" y="2423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dirty="0">
                <a:solidFill>
                  <a:srgbClr val="C59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5600" dirty="0"/>
          </a:p>
        </p:txBody>
      </p:sp>
      <p:sp>
        <p:nvSpPr>
          <p:cNvPr id="23" name="Text 21"/>
          <p:cNvSpPr/>
          <p:nvPr/>
        </p:nvSpPr>
        <p:spPr>
          <a:xfrm>
            <a:off x="8503920" y="3383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B7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— 18 MONTHS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503920" y="36576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E2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 multi-tenant. Self-serve. Decide.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503920" y="4663440"/>
            <a:ext cx="320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Self-serve onboarding, in-app Clio OAuth, Stripe Connect for the rev share. At 10 paying firms running clean, decide: (a) ride it to $1–2M ARR with two of us and high margins, or (b) raise $1–3M, hire a sales lead, push for $10M ARR.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0" y="6473952"/>
            <a:ext cx="12161520" cy="10973"/>
          </a:xfrm>
          <a:prstGeom prst="rect">
            <a:avLst/>
          </a:prstGeom>
          <a:solidFill>
            <a:srgbClr val="2A2D35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656539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7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BIG BET BEFORE THE PRODUCT IS PROVEN ON 10 FIRMS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040880" y="65653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6B7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CRAIN &amp; WOOLEY · SAAS OPPORTUNITY · MAY 2026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3175">
            <a:solidFill>
              <a:srgbClr val="1113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3175">
            <a:solidFill>
              <a:srgbClr val="11131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3175">
            <a:solidFill>
              <a:srgbClr val="1113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3175">
            <a:solidFill>
              <a:srgbClr val="1113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3175">
            <a:solidFill>
              <a:srgbClr val="11131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3175">
            <a:solidFill>
              <a:srgbClr val="11131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3175">
            <a:solidFill>
              <a:srgbClr val="11131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3175">
            <a:solidFill>
              <a:srgbClr val="11131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3175">
            <a:solidFill>
              <a:srgbClr val="1113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3175">
            <a:solidFill>
              <a:srgbClr val="11131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3175">
            <a:solidFill>
              <a:srgbClr val="11131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3175">
            <a:solidFill>
              <a:srgbClr val="11131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3175">
            <a:solidFill>
              <a:srgbClr val="11131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3175">
            <a:solidFill>
              <a:srgbClr val="11131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3175">
            <a:solidFill>
              <a:srgbClr val="11131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3175">
            <a:solidFill>
              <a:srgbClr val="11131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3175">
            <a:solidFill>
              <a:srgbClr val="11131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3175">
            <a:solidFill>
              <a:srgbClr val="11131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3175">
            <a:solidFill>
              <a:srgbClr val="11131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3175">
            <a:solidFill>
              <a:srgbClr val="11131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3175">
            <a:solidFill>
              <a:srgbClr val="11131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3175">
            <a:solidFill>
              <a:srgbClr val="11131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3175">
            <a:solidFill>
              <a:srgbClr val="11131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3175">
            <a:solidFill>
              <a:srgbClr val="11131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3175">
            <a:solidFill>
              <a:srgbClr val="11131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3175">
            <a:solidFill>
              <a:srgbClr val="11131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3175">
            <a:solidFill>
              <a:srgbClr val="11131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0"/>
            <a:ext cx="12161520" cy="0"/>
          </a:xfrm>
          <a:prstGeom prst="line">
            <a:avLst/>
          </a:prstGeom>
          <a:noFill/>
          <a:ln w="3175">
            <a:solidFill>
              <a:srgbClr val="11131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57200"/>
            <a:ext cx="12161520" cy="0"/>
          </a:xfrm>
          <a:prstGeom prst="line">
            <a:avLst/>
          </a:prstGeom>
          <a:noFill/>
          <a:ln w="3175">
            <a:solidFill>
              <a:srgbClr val="11131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914400"/>
            <a:ext cx="12161520" cy="0"/>
          </a:xfrm>
          <a:prstGeom prst="line">
            <a:avLst/>
          </a:prstGeom>
          <a:noFill/>
          <a:ln w="3175">
            <a:solidFill>
              <a:srgbClr val="11131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1371600"/>
            <a:ext cx="12161520" cy="0"/>
          </a:xfrm>
          <a:prstGeom prst="line">
            <a:avLst/>
          </a:prstGeom>
          <a:noFill/>
          <a:ln w="3175">
            <a:solidFill>
              <a:srgbClr val="11131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1828800"/>
            <a:ext cx="12161520" cy="0"/>
          </a:xfrm>
          <a:prstGeom prst="line">
            <a:avLst/>
          </a:prstGeom>
          <a:noFill/>
          <a:ln w="3175">
            <a:solidFill>
              <a:srgbClr val="11131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2286000"/>
            <a:ext cx="12161520" cy="0"/>
          </a:xfrm>
          <a:prstGeom prst="line">
            <a:avLst/>
          </a:prstGeom>
          <a:noFill/>
          <a:ln w="3175">
            <a:solidFill>
              <a:srgbClr val="11131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2743200"/>
            <a:ext cx="12161520" cy="0"/>
          </a:xfrm>
          <a:prstGeom prst="line">
            <a:avLst/>
          </a:prstGeom>
          <a:noFill/>
          <a:ln w="3175">
            <a:solidFill>
              <a:srgbClr val="11131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3200400"/>
            <a:ext cx="12161520" cy="0"/>
          </a:xfrm>
          <a:prstGeom prst="line">
            <a:avLst/>
          </a:prstGeom>
          <a:noFill/>
          <a:ln w="3175">
            <a:solidFill>
              <a:srgbClr val="11131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3657600"/>
            <a:ext cx="12161520" cy="0"/>
          </a:xfrm>
          <a:prstGeom prst="line">
            <a:avLst/>
          </a:prstGeom>
          <a:noFill/>
          <a:ln w="3175">
            <a:solidFill>
              <a:srgbClr val="11131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114800"/>
            <a:ext cx="12161520" cy="0"/>
          </a:xfrm>
          <a:prstGeom prst="line">
            <a:avLst/>
          </a:prstGeom>
          <a:noFill/>
          <a:ln w="3175">
            <a:solidFill>
              <a:srgbClr val="11131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4572000"/>
            <a:ext cx="12161520" cy="0"/>
          </a:xfrm>
          <a:prstGeom prst="line">
            <a:avLst/>
          </a:prstGeom>
          <a:noFill/>
          <a:ln w="3175">
            <a:solidFill>
              <a:srgbClr val="11131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029200"/>
            <a:ext cx="12161520" cy="0"/>
          </a:xfrm>
          <a:prstGeom prst="line">
            <a:avLst/>
          </a:prstGeom>
          <a:noFill/>
          <a:ln w="3175">
            <a:solidFill>
              <a:srgbClr val="11131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5486400"/>
            <a:ext cx="12161520" cy="0"/>
          </a:xfrm>
          <a:prstGeom prst="line">
            <a:avLst/>
          </a:prstGeom>
          <a:noFill/>
          <a:ln w="3175">
            <a:solidFill>
              <a:srgbClr val="11131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5943600"/>
            <a:ext cx="12161520" cy="0"/>
          </a:xfrm>
          <a:prstGeom prst="line">
            <a:avLst/>
          </a:prstGeom>
          <a:noFill/>
          <a:ln w="3175">
            <a:solidFill>
              <a:srgbClr val="11131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6400800"/>
            <a:ext cx="12161520" cy="0"/>
          </a:xfrm>
          <a:prstGeom prst="line">
            <a:avLst/>
          </a:prstGeom>
          <a:noFill/>
          <a:ln w="3175">
            <a:solidFill>
              <a:srgbClr val="11131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6858000"/>
            <a:ext cx="12161520" cy="0"/>
          </a:xfrm>
          <a:prstGeom prst="line">
            <a:avLst/>
          </a:prstGeom>
          <a:noFill/>
          <a:ln w="3175">
            <a:solidFill>
              <a:srgbClr val="11131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0" kern="0" dirty="0">
                <a:solidFill>
                  <a:srgbClr val="C59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ASK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48640" y="1188720"/>
            <a:ext cx="11064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i="1" dirty="0">
                <a:solidFill>
                  <a:srgbClr val="E8E2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decisions.</a:t>
            </a:r>
            <a:endParaRPr lang="en-US" sz="6400" dirty="0"/>
          </a:p>
          <a:p>
            <a:pPr indent="0" marL="0">
              <a:buNone/>
            </a:pPr>
            <a:r>
              <a:rPr lang="en-US" sz="6400" i="1" dirty="0">
                <a:solidFill>
                  <a:srgbClr val="E8E2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timeline.</a:t>
            </a:r>
            <a:endParaRPr lang="en-US" sz="6400" dirty="0"/>
          </a:p>
        </p:txBody>
      </p:sp>
      <p:sp>
        <p:nvSpPr>
          <p:cNvPr id="47" name="Shape 45"/>
          <p:cNvSpPr/>
          <p:nvPr/>
        </p:nvSpPr>
        <p:spPr>
          <a:xfrm>
            <a:off x="548640" y="3200400"/>
            <a:ext cx="1280160" cy="45720"/>
          </a:xfrm>
          <a:prstGeom prst="rect">
            <a:avLst/>
          </a:prstGeom>
          <a:solidFill>
            <a:srgbClr val="C5933A"/>
          </a:solidFill>
          <a:ln w="12700">
            <a:solidFill>
              <a:srgbClr val="C5933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48640" y="3566160"/>
            <a:ext cx="5486400" cy="2560320"/>
          </a:xfrm>
          <a:prstGeom prst="rect">
            <a:avLst/>
          </a:prstGeom>
          <a:solidFill>
            <a:srgbClr val="111318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48640" y="3566160"/>
            <a:ext cx="45720" cy="2560320"/>
          </a:xfrm>
          <a:prstGeom prst="rect">
            <a:avLst/>
          </a:prstGeom>
          <a:solidFill>
            <a:srgbClr val="C5933A"/>
          </a:solidFill>
          <a:ln w="12700">
            <a:solidFill>
              <a:srgbClr val="C5933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77240" y="3703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0" kern="0" dirty="0">
                <a:solidFill>
                  <a:srgbClr val="C59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 1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77240" y="39776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2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we treat C&amp;W as the case-study moment?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777240" y="475488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Means: get the metrics, get the testimonial, get permission to use the firm name. We use it as the cold-outreach reference for the next 30 conversations.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6263640" y="3566160"/>
            <a:ext cx="5486400" cy="2560320"/>
          </a:xfrm>
          <a:prstGeom prst="rect">
            <a:avLst/>
          </a:prstGeom>
          <a:solidFill>
            <a:srgbClr val="111318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263640" y="3566160"/>
            <a:ext cx="45720" cy="2560320"/>
          </a:xfrm>
          <a:prstGeom prst="rect">
            <a:avLst/>
          </a:prstGeom>
          <a:solidFill>
            <a:srgbClr val="C5933A"/>
          </a:solidFill>
          <a:ln w="12700">
            <a:solidFill>
              <a:srgbClr val="C5933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92240" y="3703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0" kern="0" dirty="0">
                <a:solidFill>
                  <a:srgbClr val="C59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 2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492240" y="39776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2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we start the multi-tenant refactor now or after firm 5?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6492240" y="475488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Means: do we burn 6 months of engineering before we know pricing sticks, or sell 5 bespoke installs first and start the rebuild with paying customers in hand?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548640" y="6355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59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Joe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FutreEng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Crain &amp; Wooley → SaaS Opportunity</dc:title>
  <dc:subject>PptxGenJS Presentation</dc:subject>
  <dc:creator>Joseph Panetta</dc:creator>
  <cp:lastModifiedBy>Joseph Panetta</cp:lastModifiedBy>
  <cp:revision>1</cp:revision>
  <dcterms:created xsi:type="dcterms:W3CDTF">2026-05-17T19:08:10Z</dcterms:created>
  <dcterms:modified xsi:type="dcterms:W3CDTF">2026-05-17T19:08:10Z</dcterms:modified>
</cp:coreProperties>
</file>