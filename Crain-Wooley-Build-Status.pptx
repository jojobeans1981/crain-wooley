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783080"/>
            <a:ext cx="146304" cy="146304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719072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ESTATE LAW · AUTOMATED CLIENT INTAKE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12064" y="21488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Crain &amp; Wooley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C5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Intake Engine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status &amp; path to launch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 by FutureEng  —  Haron Wilson &amp; Joseph Panetta        May 20,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18872" cy="118872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52120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SITUATION TODAY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People-driven, with tech support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587752" cy="196596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68880"/>
            <a:ext cx="25877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5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85800" y="3520440"/>
            <a:ext cx="2313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intake staff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9856" y="2240280"/>
            <a:ext cx="2587752" cy="196596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9856" y="2468880"/>
            <a:ext cx="25877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5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&lt;100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557016" y="3520440"/>
            <a:ext cx="2313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consults / month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240280"/>
            <a:ext cx="2587752" cy="196596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91072" y="2468880"/>
            <a:ext cx="25877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5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5+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6428232" y="3520440"/>
            <a:ext cx="2313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 touches per lead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62288" y="2240280"/>
            <a:ext cx="2587752" cy="196596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62288" y="2468880"/>
            <a:ext cx="25877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5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9299448" y="3520440"/>
            <a:ext cx="2313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 fully automated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8006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“Even automations in Clio require human assistance.”</a:t>
            </a:r>
            <a:pPr indent="0" marL="0">
              <a:buNone/>
            </a:pPr>
            <a:r>
              <a:rPr lang="en-US" sz="1500" dirty="0">
                <a:solidFill>
                  <a:srgbClr val="6B7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Lead in → human responds → human qualifies → human schedules → human chases. That is the bottleneck.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CRAIN · WOOLEY  —  FUTUREENG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180015" y="64373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18872" cy="118872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52120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GOAL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System-driven, with people support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657600" cy="356616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6517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C5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consults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3440" y="22860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four questions that define success: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2843784"/>
            <a:ext cx="109728" cy="109728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10" name="Text 8"/>
          <p:cNvSpPr/>
          <p:nvPr/>
        </p:nvSpPr>
        <p:spPr>
          <a:xfrm>
            <a:off x="4919472" y="27432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 reaches a scheduled consult with no staff touch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663440" y="3557016"/>
            <a:ext cx="109728" cy="109728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12" name="Text 10"/>
          <p:cNvSpPr/>
          <p:nvPr/>
        </p:nvSpPr>
        <p:spPr>
          <a:xfrm>
            <a:off x="4919472" y="345643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lead gets a response within 60 seconds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663440" y="4270248"/>
            <a:ext cx="109728" cy="109728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14" name="Text 12"/>
          <p:cNvSpPr/>
          <p:nvPr/>
        </p:nvSpPr>
        <p:spPr>
          <a:xfrm>
            <a:off x="4919472" y="41696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hired client is onboarded within 1 hour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663440" y="4983480"/>
            <a:ext cx="109728" cy="109728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16" name="Text 14"/>
          <p:cNvSpPr/>
          <p:nvPr/>
        </p:nvSpPr>
        <p:spPr>
          <a:xfrm>
            <a:off x="4919472" y="488289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data entry across systems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CRAIN · WOOLEY  —  FUTUREENG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180015" y="64373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18872" cy="118872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52120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engines, one client journey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178308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82296" cy="1783080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07568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Intake Gate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587752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Logic-driven web forms that capture, qualify, and route every lead automatically — no staff triage.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91072" y="1874520"/>
            <a:ext cx="5349240" cy="178308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91072" y="1874520"/>
            <a:ext cx="82296" cy="1783080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07568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Payment Bridge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2587752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$300 consult fee is collected up front, before any calendar slot is held.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50208"/>
            <a:ext cx="5349240" cy="178308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950208"/>
            <a:ext cx="82296" cy="1783080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4151376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Ghost Assistant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" y="46634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reply, then Day 1 / 2 / 4 SMS &amp; email follow-ups. Auto-stops the moment they pay or opt out.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91072" y="3950208"/>
            <a:ext cx="5349240" cy="178308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91072" y="3950208"/>
            <a:ext cx="82296" cy="1783080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151376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Onboarding Accelerator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46634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hire, auto-creates the Clio contact, opens the matter, and seeds the task list.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CRAIN · WOOLEY  —  FUTUREENG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180015" y="64373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18872" cy="118872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52120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AUTOMATED JOURNEY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first click to open matter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1554480" cy="1051560"/>
          </a:xfrm>
          <a:prstGeom prst="rect">
            <a:avLst/>
          </a:prstGeom>
          <a:solidFill>
            <a:srgbClr val="1A1D24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240280"/>
            <a:ext cx="1463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103120" y="2240280"/>
            <a:ext cx="353507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5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456627" y="2240280"/>
            <a:ext cx="1554480" cy="1051560"/>
          </a:xfrm>
          <a:prstGeom prst="rect">
            <a:avLst/>
          </a:prstGeom>
          <a:solidFill>
            <a:srgbClr val="1A1D24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02347" y="2240280"/>
            <a:ext cx="1463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11107" y="2240280"/>
            <a:ext cx="353507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5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364614" y="2240280"/>
            <a:ext cx="1554480" cy="1051560"/>
          </a:xfrm>
          <a:prstGeom prst="rect">
            <a:avLst/>
          </a:prstGeom>
          <a:solidFill>
            <a:srgbClr val="1A1D24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10334" y="2240280"/>
            <a:ext cx="1463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$300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19094" y="2240280"/>
            <a:ext cx="353507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5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272601" y="2240280"/>
            <a:ext cx="1554480" cy="1051560"/>
          </a:xfrm>
          <a:prstGeom prst="rect">
            <a:avLst/>
          </a:prstGeom>
          <a:solidFill>
            <a:srgbClr val="1A1D24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8321" y="2240280"/>
            <a:ext cx="1463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27081" y="2240280"/>
            <a:ext cx="353507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5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8180588" y="2240280"/>
            <a:ext cx="1554480" cy="1051560"/>
          </a:xfrm>
          <a:prstGeom prst="rect">
            <a:avLst/>
          </a:prstGeom>
          <a:solidFill>
            <a:srgbClr val="1A1D24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6308" y="2240280"/>
            <a:ext cx="1463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735068" y="2240280"/>
            <a:ext cx="353507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5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10088575" y="2240280"/>
            <a:ext cx="1554480" cy="1051560"/>
          </a:xfrm>
          <a:prstGeom prst="rect">
            <a:avLst/>
          </a:prstGeom>
          <a:solidFill>
            <a:srgbClr val="1A1D24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34295" y="2240280"/>
            <a:ext cx="1463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Clio Matter &amp; Tasks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11094415" cy="155448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977640"/>
            <a:ext cx="82296" cy="1554480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418795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GHOST ASSISTANT RUNS IN PARALLEL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" y="4590288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don’t book right away: instant confirmation email → Day 1 SMS → Day 2 email → Day 4 final nudge — each carrying their payment + scheduling link. The sequence cancels itself the moment they pay, book, or reply STOP.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CRAIN · WOOLEY  —  FUTUREENG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180015" y="64373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18872" cy="118872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52120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ESTATE-SPECIALIZED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Speaks estate law, not generic law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Practice areas the intake offers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752344"/>
            <a:ext cx="109728" cy="109728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6517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Planning — wills, trusts, POA, directives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19272"/>
            <a:ext cx="109728" cy="109728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21868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Probate &amp; Estate Administration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109728" cy="109728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78561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Administration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453128"/>
            <a:ext cx="109728" cy="109728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435254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Guardianship &amp; Conservatorship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020056"/>
            <a:ext cx="109728" cy="109728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491947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 Law — Medicaid / long-term care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26480" y="2103120"/>
            <a:ext cx="5516575" cy="361188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331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Qualification tuned for estate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2889504"/>
            <a:ext cx="109728" cy="109728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19" name="Text 17"/>
          <p:cNvSpPr/>
          <p:nvPr/>
        </p:nvSpPr>
        <p:spPr>
          <a:xfrm>
            <a:off x="6656832" y="2788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“just planning ahead” qualifies — not dismissed as a weak lead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3621024"/>
            <a:ext cx="109728" cy="109728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21" name="Text 19"/>
          <p:cNvSpPr/>
          <p:nvPr/>
        </p:nvSpPr>
        <p:spPr>
          <a:xfrm>
            <a:off x="6656832" y="3520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Non-estate inquiries route out automatically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4352544"/>
            <a:ext cx="109728" cy="109728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251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Low-intent / DIY / free-advice requests are filtered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0" y="5084064"/>
            <a:ext cx="109728" cy="109728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25" name="Text 23"/>
          <p:cNvSpPr/>
          <p:nvPr/>
        </p:nvSpPr>
        <p:spPr>
          <a:xfrm>
            <a:off x="6656832" y="49834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can override any decision by hand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CRAIN · WOOLEY  —  FUTUREENG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180015" y="64373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18872" cy="118872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52120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DOES IT DELIVER?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Measured against the firm’s own yardstick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4415" cy="603504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94560"/>
            <a:ext cx="146304" cy="146304"/>
          </a:xfrm>
          <a:prstGeom prst="rect">
            <a:avLst/>
          </a:prstGeom>
          <a:solidFill>
            <a:srgbClr val="3A7D5A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" y="1965960"/>
            <a:ext cx="6583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response within 60 seconds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80960" y="1965960"/>
            <a:ext cx="377921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3A7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— confirmation fires immediately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42616"/>
            <a:ext cx="11094415" cy="603504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71216"/>
            <a:ext cx="146304" cy="146304"/>
          </a:xfrm>
          <a:prstGeom prst="rect">
            <a:avLst/>
          </a:prstGeom>
          <a:solidFill>
            <a:srgbClr val="3A7D5A"/>
          </a:solidFill>
          <a:ln/>
        </p:spPr>
      </p:sp>
      <p:sp>
        <p:nvSpPr>
          <p:cNvPr id="11" name="Text 9"/>
          <p:cNvSpPr/>
          <p:nvPr/>
        </p:nvSpPr>
        <p:spPr>
          <a:xfrm>
            <a:off x="1115568" y="2642616"/>
            <a:ext cx="6583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→ scheduled consult without staff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80960" y="2642616"/>
            <a:ext cx="377921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3A7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— once integrations are live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319272"/>
            <a:ext cx="11094415" cy="603504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547872"/>
            <a:ext cx="146304" cy="146304"/>
          </a:xfrm>
          <a:prstGeom prst="rect">
            <a:avLst/>
          </a:prstGeom>
          <a:solidFill>
            <a:srgbClr val="3A7D5A"/>
          </a:solidFill>
          <a:ln/>
        </p:spPr>
      </p:sp>
      <p:sp>
        <p:nvSpPr>
          <p:cNvPr id="15" name="Text 13"/>
          <p:cNvSpPr/>
          <p:nvPr/>
        </p:nvSpPr>
        <p:spPr>
          <a:xfrm>
            <a:off x="1115568" y="3319272"/>
            <a:ext cx="6583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progress tracker (“Domino’s-style”)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680960" y="3319272"/>
            <a:ext cx="377921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3A7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95928"/>
            <a:ext cx="11094415" cy="603504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224528"/>
            <a:ext cx="146304" cy="146304"/>
          </a:xfrm>
          <a:prstGeom prst="rect">
            <a:avLst/>
          </a:prstGeom>
          <a:solidFill>
            <a:srgbClr val="3A7D5A"/>
          </a:solidFill>
          <a:ln/>
        </p:spPr>
      </p:sp>
      <p:sp>
        <p:nvSpPr>
          <p:cNvPr id="19" name="Text 17"/>
          <p:cNvSpPr/>
          <p:nvPr/>
        </p:nvSpPr>
        <p:spPr>
          <a:xfrm>
            <a:off x="1115568" y="3995928"/>
            <a:ext cx="6583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TCPA opt-out / STOP compliance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680960" y="3995928"/>
            <a:ext cx="377921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3A7D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672584"/>
            <a:ext cx="11094415" cy="603504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901184"/>
            <a:ext cx="146304" cy="146304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23" name="Text 21"/>
          <p:cNvSpPr/>
          <p:nvPr/>
        </p:nvSpPr>
        <p:spPr>
          <a:xfrm>
            <a:off x="1115568" y="4672584"/>
            <a:ext cx="6583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Hired client onboarded within 1 hour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680960" y="4672584"/>
            <a:ext cx="377921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 — needs Clio connection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349240"/>
            <a:ext cx="11094415" cy="603504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5577840"/>
            <a:ext cx="146304" cy="146304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27" name="Text 25"/>
          <p:cNvSpPr/>
          <p:nvPr/>
        </p:nvSpPr>
        <p:spPr>
          <a:xfrm>
            <a:off x="1115568" y="5349240"/>
            <a:ext cx="6583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data entry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680960" y="5349240"/>
            <a:ext cx="377921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Clio connection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CRAIN · WOOLEY  —  FUTUREENG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180015" y="64373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18872" cy="118872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52120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PEOPLE SUPPORT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 staff can always override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cases vary. The system handles the routine and the chasing — it never takes the keys away from staff.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52344"/>
            <a:ext cx="109728" cy="109728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651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message templates and follow-up timing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355848"/>
            <a:ext cx="109728" cy="109728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255264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view with manual status changes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959352"/>
            <a:ext cx="109728" cy="109728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5876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overrides for appointment, payment, and hire   (in progress)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562856"/>
            <a:ext cx="109728" cy="109728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4462272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phone, walk-in, and referral leads by hand   (in progress)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109728" cy="109728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5065776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written to an audit log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CRAIN · WOOLEY  —  FUTUREENG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180015" y="64373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18872" cy="118872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52120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IT STANDS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Done · In progress · Needs the firm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3538728" cy="416052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10512"/>
            <a:ext cx="3538728" cy="457200"/>
          </a:xfrm>
          <a:prstGeom prst="rect">
            <a:avLst/>
          </a:prstGeom>
          <a:solidFill>
            <a:srgbClr val="3A7D5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10512"/>
            <a:ext cx="3172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0D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532888"/>
            <a:ext cx="91440" cy="91440"/>
          </a:xfrm>
          <a:prstGeom prst="rect">
            <a:avLst/>
          </a:prstGeom>
          <a:solidFill>
            <a:srgbClr val="3A7D5A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2432304"/>
            <a:ext cx="2898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Estate-specialized intake + qualification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081528"/>
            <a:ext cx="91440" cy="91440"/>
          </a:xfrm>
          <a:prstGeom prst="rect">
            <a:avLst/>
          </a:prstGeom>
          <a:solidFill>
            <a:srgbClr val="3A7D5A"/>
          </a:solidFill>
          <a:ln/>
        </p:spPr>
      </p:sp>
      <p:sp>
        <p:nvSpPr>
          <p:cNvPr id="11" name="Text 9"/>
          <p:cNvSpPr/>
          <p:nvPr/>
        </p:nvSpPr>
        <p:spPr>
          <a:xfrm>
            <a:off x="987552" y="2980944"/>
            <a:ext cx="2898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 Stripe payment gate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630168"/>
            <a:ext cx="91440" cy="91440"/>
          </a:xfrm>
          <a:prstGeom prst="rect">
            <a:avLst/>
          </a:prstGeom>
          <a:solidFill>
            <a:srgbClr val="3A7D5A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3529584"/>
            <a:ext cx="2898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Assistant nurture (instant + Day 1/2/4)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4178808"/>
            <a:ext cx="91440" cy="91440"/>
          </a:xfrm>
          <a:prstGeom prst="rect">
            <a:avLst/>
          </a:prstGeom>
          <a:solidFill>
            <a:srgbClr val="3A7D5A"/>
          </a:solidFill>
          <a:ln/>
        </p:spPr>
      </p:sp>
      <p:sp>
        <p:nvSpPr>
          <p:cNvPr id="15" name="Text 13"/>
          <p:cNvSpPr/>
          <p:nvPr/>
        </p:nvSpPr>
        <p:spPr>
          <a:xfrm>
            <a:off x="987552" y="4078224"/>
            <a:ext cx="2898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dashboard, templates &amp; audit log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727448"/>
            <a:ext cx="91440" cy="91440"/>
          </a:xfrm>
          <a:prstGeom prst="rect">
            <a:avLst/>
          </a:prstGeom>
          <a:solidFill>
            <a:srgbClr val="3A7D5A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" y="4626864"/>
            <a:ext cx="2898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TCPA opt-out / STOP handling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5276088"/>
            <a:ext cx="91440" cy="91440"/>
          </a:xfrm>
          <a:prstGeom prst="rect">
            <a:avLst/>
          </a:prstGeom>
          <a:solidFill>
            <a:srgbClr val="3A7D5A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5175504"/>
            <a:ext cx="2898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tracker + PII security fix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79392" y="1810512"/>
            <a:ext cx="3538728" cy="416052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79392" y="1810512"/>
            <a:ext cx="3538728" cy="457200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22" name="Text 20"/>
          <p:cNvSpPr/>
          <p:nvPr/>
        </p:nvSpPr>
        <p:spPr>
          <a:xfrm>
            <a:off x="4462272" y="1810512"/>
            <a:ext cx="3172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0D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07992" y="2532888"/>
            <a:ext cx="91440" cy="91440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24" name="Text 22"/>
          <p:cNvSpPr/>
          <p:nvPr/>
        </p:nvSpPr>
        <p:spPr>
          <a:xfrm>
            <a:off x="4718304" y="2432304"/>
            <a:ext cx="2898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lead entry for staff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07992" y="3081528"/>
            <a:ext cx="91440" cy="91440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26" name="Text 24"/>
          <p:cNvSpPr/>
          <p:nvPr/>
        </p:nvSpPr>
        <p:spPr>
          <a:xfrm>
            <a:off x="4718304" y="2980944"/>
            <a:ext cx="2898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pipeline overrides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10144" y="1810512"/>
            <a:ext cx="3538728" cy="416052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10144" y="1810512"/>
            <a:ext cx="3538728" cy="457200"/>
          </a:xfrm>
          <a:prstGeom prst="rect">
            <a:avLst/>
          </a:prstGeom>
          <a:solidFill>
            <a:srgbClr val="D95D39"/>
          </a:solidFill>
          <a:ln/>
        </p:spPr>
      </p:sp>
      <p:sp>
        <p:nvSpPr>
          <p:cNvPr id="29" name="Text 27"/>
          <p:cNvSpPr/>
          <p:nvPr/>
        </p:nvSpPr>
        <p:spPr>
          <a:xfrm>
            <a:off x="8193024" y="1810512"/>
            <a:ext cx="3172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0D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 THE FIRM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238744" y="2532888"/>
            <a:ext cx="91440" cy="91440"/>
          </a:xfrm>
          <a:prstGeom prst="rect">
            <a:avLst/>
          </a:prstGeom>
          <a:solidFill>
            <a:srgbClr val="D95D39"/>
          </a:solidFill>
          <a:ln/>
        </p:spPr>
      </p:sp>
      <p:sp>
        <p:nvSpPr>
          <p:cNvPr id="31" name="Text 29"/>
          <p:cNvSpPr/>
          <p:nvPr/>
        </p:nvSpPr>
        <p:spPr>
          <a:xfrm>
            <a:off x="8449056" y="2432304"/>
            <a:ext cx="2898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Clio Manage API connection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38744" y="3081528"/>
            <a:ext cx="91440" cy="91440"/>
          </a:xfrm>
          <a:prstGeom prst="rect">
            <a:avLst/>
          </a:prstGeom>
          <a:solidFill>
            <a:srgbClr val="D95D39"/>
          </a:solidFill>
          <a:ln/>
        </p:spPr>
      </p:sp>
      <p:sp>
        <p:nvSpPr>
          <p:cNvPr id="33" name="Text 31"/>
          <p:cNvSpPr/>
          <p:nvPr/>
        </p:nvSpPr>
        <p:spPr>
          <a:xfrm>
            <a:off x="8449056" y="2980944"/>
            <a:ext cx="2898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decision + keys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38744" y="3630168"/>
            <a:ext cx="91440" cy="91440"/>
          </a:xfrm>
          <a:prstGeom prst="rect">
            <a:avLst/>
          </a:prstGeom>
          <a:solidFill>
            <a:srgbClr val="D95D39"/>
          </a:solidFill>
          <a:ln/>
        </p:spPr>
      </p:sp>
      <p:sp>
        <p:nvSpPr>
          <p:cNvPr id="35" name="Text 33"/>
          <p:cNvSpPr/>
          <p:nvPr/>
        </p:nvSpPr>
        <p:spPr>
          <a:xfrm>
            <a:off x="8449056" y="3529584"/>
            <a:ext cx="2898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/ DNS records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238744" y="4178808"/>
            <a:ext cx="91440" cy="91440"/>
          </a:xfrm>
          <a:prstGeom prst="rect">
            <a:avLst/>
          </a:prstGeom>
          <a:solidFill>
            <a:srgbClr val="D95D39"/>
          </a:solidFill>
          <a:ln/>
        </p:spPr>
      </p:sp>
      <p:sp>
        <p:nvSpPr>
          <p:cNvPr id="37" name="Text 35"/>
          <p:cNvSpPr/>
          <p:nvPr/>
        </p:nvSpPr>
        <p:spPr>
          <a:xfrm>
            <a:off x="8449056" y="4078224"/>
            <a:ext cx="2898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10DLC registration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CRAIN · WOOLEY  —  FUTUREENG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180015" y="64373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18872" cy="118872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52120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FINISH THE BUILD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need from Crain &amp; Wooley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4415" cy="960120"/>
          </a:xfrm>
          <a:prstGeom prst="rect">
            <a:avLst/>
          </a:prstGeom>
          <a:solidFill>
            <a:srgbClr val="1A1D24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82296" cy="960120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938528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Clio Manage developer app — Client ID + Secret</a:t>
            </a:r>
            <a:pPr indent="0" marL="0">
              <a:buNone/>
            </a:pPr>
            <a:r>
              <a:rPr lang="en-US" sz="1400" dirty="0">
                <a:solidFill>
                  <a:srgbClr val="6B7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(created by a Clio Manage admin)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biggest unblocker. A Grow login alone cannot create this — it lives in Clio Manage settings.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163824"/>
            <a:ext cx="109728" cy="109728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63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— confirm Stripe vs. Clio Payments; if Stripe, the account + $300 price ID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3840480"/>
            <a:ext cx="109728" cy="109728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39896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/ DNS — who manages crainwooley.com (about 4 records to add)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4517136"/>
            <a:ext cx="109728" cy="109728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41655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— area-code preference + A2P 10DLC registration  (1–5 business days)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5193792"/>
            <a:ext cx="109728" cy="109728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09320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logins — which staff get access, and at what level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-1828800" y="-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B0D11"/>
                </a:solidFill>
              </a:rPr>
              <a:t>2.        3.        4.        5.</a:t>
            </a:r>
            <a:endParaRPr lang="en-US" sz="100" dirty="0"/>
          </a:p>
        </p:txBody>
      </p:sp>
      <p:sp>
        <p:nvSpPr>
          <p:cNvPr id="17" name="Text 15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CRAIN · WOOLEY  —  FUTUREENG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180015" y="64373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18872" cy="118872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52120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TO LAUNCH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here to live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237744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5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Credentials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provides Clio app, payment keys, DNS; start 10DLC.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56432" y="1965960"/>
            <a:ext cx="2606040" cy="237744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5032" y="21031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5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685032" y="29718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Integrate &amp; Test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85032" y="34290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Clio, test in sandbox, finish manual staff tools.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64224" y="1965960"/>
            <a:ext cx="2606040" cy="237744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2824" y="21031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5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592824" y="29718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92824" y="34290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flow: intake → pay → schedule → hire → Clio matter.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272016" y="1965960"/>
            <a:ext cx="2606040" cy="2377440"/>
          </a:xfrm>
          <a:prstGeom prst="rect">
            <a:avLst/>
          </a:prstGeom>
          <a:solidFill>
            <a:srgbClr val="111318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0616" y="21031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5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500616" y="29718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E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 &amp; Launch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500616" y="34290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walkthrough, then point the live domain.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709160"/>
            <a:ext cx="11094415" cy="960120"/>
          </a:xfrm>
          <a:prstGeom prst="rect">
            <a:avLst/>
          </a:prstGeom>
          <a:solidFill>
            <a:srgbClr val="1A1D24"/>
          </a:solidFill>
          <a:ln w="12700">
            <a:solidFill>
              <a:srgbClr val="2A2D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709160"/>
            <a:ext cx="82296" cy="960120"/>
          </a:xfrm>
          <a:prstGeom prst="rect">
            <a:avLst/>
          </a:prstGeom>
          <a:solidFill>
            <a:srgbClr val="D95D39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470916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timeline is driven by credential turnaround + 10DLC (1–5 business days) — </a:t>
            </a:r>
            <a:pPr indent="0" marL="0">
              <a:buNone/>
            </a:pPr>
            <a:r>
              <a:rPr lang="en-US" sz="1450" b="1" dirty="0">
                <a:solidFill>
                  <a:srgbClr val="C5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by the remaining code.</a:t>
            </a:r>
            <a:pPr indent="0" marL="0">
              <a:buNone/>
            </a:pPr>
            <a:r>
              <a:rPr lang="en-US" sz="145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Once Clio + payment keys land, a working staging demo is days away.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CRAIN · WOOLEY  —  FUTUREENG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180015" y="64373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011680"/>
            <a:ext cx="146304" cy="146304"/>
          </a:xfrm>
          <a:prstGeom prst="rect">
            <a:avLst/>
          </a:prstGeom>
          <a:solidFill>
            <a:srgbClr val="C5933A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1947672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C59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SHIFT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23774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first contact to an open matter — automatically.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lead go from website to scheduled consult without staff?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C5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Yes.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every lead get a response within 60 seconds?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C5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Yes.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7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FutureEng  —  Intake Systems &amp; Revenue Automation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FutureEng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Crain &amp; Wooley — Automated Intake Engine — Build Status</dc:title>
  <dc:subject>PptxGenJS Presentation</dc:subject>
  <dc:creator>FutureEng</dc:creator>
  <cp:lastModifiedBy>FutureEng</cp:lastModifiedBy>
  <cp:revision>1</cp:revision>
  <dcterms:created xsi:type="dcterms:W3CDTF">2026-05-21T00:53:51Z</dcterms:created>
  <dcterms:modified xsi:type="dcterms:W3CDTF">2026-05-21T00:53:51Z</dcterms:modified>
</cp:coreProperties>
</file>